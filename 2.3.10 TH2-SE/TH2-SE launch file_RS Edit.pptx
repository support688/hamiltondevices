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Montserrat SemiBold"/>
      <p:regular r:id="rId13"/>
      <p:bold r:id="rId14"/>
      <p:italic r:id="rId15"/>
      <p:boldItalic r:id="rId16"/>
    </p:embeddedFont>
    <p:embeddedFont>
      <p:font typeface="Montserrat Medium"/>
      <p:regular r:id="rId17"/>
      <p:bold r:id="rId18"/>
      <p:italic r:id="rId19"/>
      <p:boldItalic r:id="rId20"/>
    </p:embeddedFont>
    <p:embeddedFont>
      <p:font typeface="Montserrat Light"/>
      <p:regular r:id="rId21"/>
      <p:bold r:id="rId22"/>
      <p:italic r:id="rId23"/>
      <p:boldItalic r:id="rId24"/>
    </p:embeddedFont>
    <p:embeddedFont>
      <p:font typeface="Montserrat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SOYZDkNpvX2dmjPc/dHBnYQkW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boldItalic.fntdata"/><Relationship Id="rId22" Type="http://schemas.openxmlformats.org/officeDocument/2006/relationships/font" Target="fonts/MontserratLight-bold.fntdata"/><Relationship Id="rId21" Type="http://schemas.openxmlformats.org/officeDocument/2006/relationships/font" Target="fonts/MontserratLight-regular.fntdata"/><Relationship Id="rId24" Type="http://schemas.openxmlformats.org/officeDocument/2006/relationships/font" Target="fonts/MontserratLight-boldItalic.fntdata"/><Relationship Id="rId23" Type="http://schemas.openxmlformats.org/officeDocument/2006/relationships/font" Target="fonts/MontserratLigh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ExtraBold-boldItalic.fntdata"/><Relationship Id="rId25" Type="http://schemas.openxmlformats.org/officeDocument/2006/relationships/font" Target="fonts/MontserratExtraBold-bold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SemiBold-regular.fntdata"/><Relationship Id="rId12" Type="http://schemas.openxmlformats.org/officeDocument/2006/relationships/slide" Target="slides/slide8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Medium-regular.fntdata"/><Relationship Id="rId16" Type="http://schemas.openxmlformats.org/officeDocument/2006/relationships/font" Target="fonts/MontserratSemiBold-boldItalic.fntdata"/><Relationship Id="rId19" Type="http://schemas.openxmlformats.org/officeDocument/2006/relationships/font" Target="fonts/MontserratMedium-italic.fntdata"/><Relationship Id="rId18" Type="http://schemas.openxmlformats.org/officeDocument/2006/relationships/font" Target="fonts/Montserra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jp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7512" l="4161" r="8403" t="50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0164" y="-2088"/>
            <a:ext cx="1571836" cy="64750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683703" y="2230799"/>
            <a:ext cx="525556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TH2-SE</a:t>
            </a:r>
            <a:endParaRPr sz="720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737043" y="3431128"/>
            <a:ext cx="4300352" cy="50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Borosilicate Glass Cartridge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18299" l="14971" r="15151" t="11826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0164" y="-2088"/>
            <a:ext cx="1571836" cy="647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19390" y="-2089"/>
            <a:ext cx="1571836" cy="64750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/>
        </p:nvSpPr>
        <p:spPr>
          <a:xfrm>
            <a:off x="1410553" y="2150183"/>
            <a:ext cx="4420904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Unrivaled Ceramic Heating Technology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1410552" y="3485291"/>
            <a:ext cx="5184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Built with CCELL’s proprietary ceramic heating technology, the TH2-SE enables best-in-class taste and unrivaled quality. Its innovative design and state-of-the-art engineering deliver superior quality and an unmatched level of satisfaction to all consumers.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0164" y="-2088"/>
            <a:ext cx="1571836" cy="647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9390" y="-2089"/>
            <a:ext cx="1571836" cy="647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1208451" y="1811853"/>
            <a:ext cx="4912869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Maximum Consistency.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Across All Product Lines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1208451" y="3303807"/>
            <a:ext cx="4570412" cy="1077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Our advanced engineering tech and stringent quality control maximize consistency across every product we create and every cloud consumers inhale, as attested to by the 530 million+ CCELL cartridges shipped and used to date.</a:t>
            </a:r>
            <a:endParaRPr/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4">
            <a:alphaModFix/>
          </a:blip>
          <a:srcRect b="4194" l="1264" r="9688" t="6758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9349" l="8169" r="5135" t="3955"/>
          <a:stretch/>
        </p:blipFill>
        <p:spPr>
          <a:xfrm>
            <a:off x="-77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0164" y="-2088"/>
            <a:ext cx="1571836" cy="647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19390" y="-2089"/>
            <a:ext cx="1571836" cy="64750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1392316" y="1813915"/>
            <a:ext cx="3972163" cy="954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100% Compliant. </a:t>
            </a:r>
            <a:br>
              <a:rPr lang="en-US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en-US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 Compromises.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1392316" y="3246120"/>
            <a:ext cx="4815444" cy="1361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With meticulous attention to detail, the TH2-SE was crafted to be 100% compliant with industry regulations, ensuring a safe and worry-free vaping experience for all to enjoy. This allows consumers to experience true peace of mind while indulging in exceptional flavor and quality!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6251" l="2907" r="7607" t="4260"/>
          <a:stretch/>
        </p:blipFill>
        <p:spPr>
          <a:xfrm>
            <a:off x="0" y="3175"/>
            <a:ext cx="12192000" cy="685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/>
        </p:nvSpPr>
        <p:spPr>
          <a:xfrm>
            <a:off x="1227935" y="1511769"/>
            <a:ext cx="597296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Hassle-Free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Batch-Capping</a:t>
            </a:r>
            <a:endParaRPr sz="2800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227936" y="2802882"/>
            <a:ext cx="4769634" cy="1077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Streamline your production process with a quick, hassle-free snap, and save valuable time and resources with our snap-fit mouthpiece design. Batch-capped* at 50 pieces at a time, this cartridge provides a tight, secure seal in a flash.</a:t>
            </a:r>
            <a:endParaRPr/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19390" y="-2089"/>
            <a:ext cx="1571836" cy="64750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1227936" y="5344479"/>
            <a:ext cx="4562900" cy="25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9595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*Batch-capping only available for snap-fit mouthpieces.</a:t>
            </a:r>
            <a:endParaRPr/>
          </a:p>
        </p:txBody>
      </p:sp>
      <p:grpSp>
        <p:nvGrpSpPr>
          <p:cNvPr id="124" name="Google Shape;124;p5"/>
          <p:cNvGrpSpPr/>
          <p:nvPr/>
        </p:nvGrpSpPr>
        <p:grpSpPr>
          <a:xfrm>
            <a:off x="10385303" y="1153166"/>
            <a:ext cx="316012" cy="835656"/>
            <a:chOff x="5817938" y="1935322"/>
            <a:chExt cx="327664" cy="606820"/>
          </a:xfrm>
        </p:grpSpPr>
        <p:sp>
          <p:nvSpPr>
            <p:cNvPr id="125" name="Google Shape;125;p5"/>
            <p:cNvSpPr/>
            <p:nvPr/>
          </p:nvSpPr>
          <p:spPr>
            <a:xfrm rot="5400000">
              <a:off x="5859453" y="2074900"/>
              <a:ext cx="244632" cy="327663"/>
            </a:xfrm>
            <a:prstGeom prst="chevron">
              <a:avLst>
                <a:gd fmla="val 56148" name="adj"/>
              </a:avLst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 rot="5400000">
              <a:off x="5859453" y="1893806"/>
              <a:ext cx="244632" cy="327663"/>
            </a:xfrm>
            <a:prstGeom prst="chevron">
              <a:avLst>
                <a:gd fmla="val 56148" name="adj"/>
              </a:avLst>
            </a:pr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 rot="5400000">
              <a:off x="5859453" y="2255993"/>
              <a:ext cx="244633" cy="327663"/>
            </a:xfrm>
            <a:prstGeom prst="chevron">
              <a:avLst>
                <a:gd fmla="val 5614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5"/>
          <p:cNvGrpSpPr/>
          <p:nvPr/>
        </p:nvGrpSpPr>
        <p:grpSpPr>
          <a:xfrm>
            <a:off x="10385303" y="4765046"/>
            <a:ext cx="316012" cy="835656"/>
            <a:chOff x="5817938" y="1935322"/>
            <a:chExt cx="327664" cy="606820"/>
          </a:xfrm>
        </p:grpSpPr>
        <p:sp>
          <p:nvSpPr>
            <p:cNvPr id="129" name="Google Shape;129;p5"/>
            <p:cNvSpPr/>
            <p:nvPr/>
          </p:nvSpPr>
          <p:spPr>
            <a:xfrm rot="5400000">
              <a:off x="5859453" y="2074900"/>
              <a:ext cx="244632" cy="327663"/>
            </a:xfrm>
            <a:prstGeom prst="chevron">
              <a:avLst>
                <a:gd fmla="val 56148" name="adj"/>
              </a:avLst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 rot="5400000">
              <a:off x="5859453" y="1893806"/>
              <a:ext cx="244632" cy="327663"/>
            </a:xfrm>
            <a:prstGeom prst="chevron">
              <a:avLst>
                <a:gd fmla="val 56148" name="adj"/>
              </a:avLst>
            </a:pr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 rot="5400000">
              <a:off x="5859453" y="2255993"/>
              <a:ext cx="244633" cy="327663"/>
            </a:xfrm>
            <a:prstGeom prst="chevron">
              <a:avLst>
                <a:gd fmla="val 56148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6"/>
          <p:cNvGrpSpPr/>
          <p:nvPr/>
        </p:nvGrpSpPr>
        <p:grpSpPr>
          <a:xfrm>
            <a:off x="6528044" y="1278805"/>
            <a:ext cx="936475" cy="3901638"/>
            <a:chOff x="5063408" y="1278805"/>
            <a:chExt cx="936475" cy="3901638"/>
          </a:xfrm>
        </p:grpSpPr>
        <p:pic>
          <p:nvPicPr>
            <p:cNvPr id="137" name="Google Shape;137;p6"/>
            <p:cNvPicPr preferRelativeResize="0"/>
            <p:nvPr/>
          </p:nvPicPr>
          <p:blipFill rotWithShape="1">
            <a:blip r:embed="rId3">
              <a:alphaModFix/>
            </a:blip>
            <a:srcRect b="16750" l="42500" r="42500" t="125"/>
            <a:stretch/>
          </p:blipFill>
          <p:spPr>
            <a:xfrm>
              <a:off x="5289018" y="1819024"/>
              <a:ext cx="485257" cy="33614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6"/>
            <p:cNvSpPr/>
            <p:nvPr/>
          </p:nvSpPr>
          <p:spPr>
            <a:xfrm>
              <a:off x="5063408" y="1278805"/>
              <a:ext cx="93647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Screw-on</a:t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139" name="Google Shape;139;p6"/>
          <p:cNvSpPr/>
          <p:nvPr/>
        </p:nvSpPr>
        <p:spPr>
          <a:xfrm>
            <a:off x="0" y="0"/>
            <a:ext cx="4208549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0164" y="-2088"/>
            <a:ext cx="1571836" cy="647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19390" y="-2089"/>
            <a:ext cx="1571836" cy="64750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770656" y="1078019"/>
            <a:ext cx="3225147" cy="678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Specs</a:t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726336" y="2048772"/>
            <a:ext cx="3220366" cy="364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Tank Volume: 0.5ml/1ml</a:t>
            </a:r>
            <a:endParaRPr/>
          </a:p>
          <a:p>
            <a:pPr indent="-17145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Dimensions: </a:t>
            </a: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105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10.5 x 51.8/62.1 (mm)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                            </a:t>
            </a: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105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0.41 x 2.04/2.44 (in)</a:t>
            </a:r>
            <a:endParaRPr/>
          </a:p>
          <a:p>
            <a:pPr indent="-17145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Resistance: 1.4Ω</a:t>
            </a:r>
            <a:endParaRPr sz="105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17145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Aperture size: 4 x φ2mm</a:t>
            </a:r>
            <a:endParaRPr sz="105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17145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CCELL ceramic heating element</a:t>
            </a:r>
            <a:endParaRPr/>
          </a:p>
          <a:p>
            <a:pPr indent="-17145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Snap-fit/screw-on mouthpiece</a:t>
            </a:r>
            <a:endParaRPr/>
          </a:p>
          <a:p>
            <a:pPr indent="-17145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Low-lead brass center post</a:t>
            </a:r>
            <a:endParaRPr/>
          </a:p>
          <a:p>
            <a:pPr indent="-17145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Borosilicate glass body</a:t>
            </a:r>
            <a:endParaRPr/>
          </a:p>
          <a:p>
            <a:pPr indent="-171450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Available for customization</a:t>
            </a:r>
            <a:endParaRPr/>
          </a:p>
          <a:p>
            <a:pPr indent="-104775" lvl="0" marL="1714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144" name="Google Shape;144;p6"/>
          <p:cNvGrpSpPr/>
          <p:nvPr/>
        </p:nvGrpSpPr>
        <p:grpSpPr>
          <a:xfrm flipH="1" rot="5400000">
            <a:off x="9320427" y="3532963"/>
            <a:ext cx="3149955" cy="145008"/>
            <a:chOff x="8769006" y="3250895"/>
            <a:chExt cx="517236" cy="152368"/>
          </a:xfrm>
        </p:grpSpPr>
        <p:cxnSp>
          <p:nvCxnSpPr>
            <p:cNvPr id="145" name="Google Shape;145;p6"/>
            <p:cNvCxnSpPr/>
            <p:nvPr/>
          </p:nvCxnSpPr>
          <p:spPr>
            <a:xfrm rot="10800000">
              <a:off x="8769006" y="3260131"/>
              <a:ext cx="0" cy="143132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6" name="Google Shape;146;p6"/>
            <p:cNvCxnSpPr/>
            <p:nvPr/>
          </p:nvCxnSpPr>
          <p:spPr>
            <a:xfrm rot="10800000">
              <a:off x="9286242" y="3250895"/>
              <a:ext cx="0" cy="152368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7" name="Google Shape;147;p6"/>
            <p:cNvCxnSpPr/>
            <p:nvPr/>
          </p:nvCxnSpPr>
          <p:spPr>
            <a:xfrm>
              <a:off x="8769006" y="3331825"/>
              <a:ext cx="517236" cy="0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8" name="Google Shape;148;p6"/>
          <p:cNvSpPr/>
          <p:nvPr/>
        </p:nvSpPr>
        <p:spPr>
          <a:xfrm rot="5400000">
            <a:off x="10488130" y="3686413"/>
            <a:ext cx="120577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62.1mm (2.44in)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" name="Google Shape;149;p6"/>
          <p:cNvGrpSpPr/>
          <p:nvPr/>
        </p:nvGrpSpPr>
        <p:grpSpPr>
          <a:xfrm>
            <a:off x="10110865" y="5261759"/>
            <a:ext cx="567618" cy="116057"/>
            <a:chOff x="9931056" y="489832"/>
            <a:chExt cx="517237" cy="152368"/>
          </a:xfrm>
        </p:grpSpPr>
        <p:cxnSp>
          <p:nvCxnSpPr>
            <p:cNvPr id="150" name="Google Shape;150;p6"/>
            <p:cNvCxnSpPr/>
            <p:nvPr/>
          </p:nvCxnSpPr>
          <p:spPr>
            <a:xfrm rot="10800000">
              <a:off x="9931056" y="499067"/>
              <a:ext cx="0" cy="143133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1" name="Google Shape;151;p6"/>
            <p:cNvCxnSpPr/>
            <p:nvPr/>
          </p:nvCxnSpPr>
          <p:spPr>
            <a:xfrm rot="10800000">
              <a:off x="10448292" y="489832"/>
              <a:ext cx="0" cy="152368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2" name="Google Shape;152;p6"/>
            <p:cNvCxnSpPr/>
            <p:nvPr/>
          </p:nvCxnSpPr>
          <p:spPr>
            <a:xfrm>
              <a:off x="9931057" y="570763"/>
              <a:ext cx="517236" cy="0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53" name="Google Shape;153;p6"/>
          <p:cNvSpPr/>
          <p:nvPr/>
        </p:nvSpPr>
        <p:spPr>
          <a:xfrm>
            <a:off x="9756143" y="5417294"/>
            <a:ext cx="127573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10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10.5mm(0.41in)</a:t>
            </a:r>
            <a:endParaRPr/>
          </a:p>
        </p:txBody>
      </p:sp>
      <p:grpSp>
        <p:nvGrpSpPr>
          <p:cNvPr id="154" name="Google Shape;154;p6"/>
          <p:cNvGrpSpPr/>
          <p:nvPr/>
        </p:nvGrpSpPr>
        <p:grpSpPr>
          <a:xfrm>
            <a:off x="8521239" y="5265374"/>
            <a:ext cx="567618" cy="116057"/>
            <a:chOff x="9931056" y="489832"/>
            <a:chExt cx="517237" cy="152368"/>
          </a:xfrm>
        </p:grpSpPr>
        <p:cxnSp>
          <p:nvCxnSpPr>
            <p:cNvPr id="155" name="Google Shape;155;p6"/>
            <p:cNvCxnSpPr/>
            <p:nvPr/>
          </p:nvCxnSpPr>
          <p:spPr>
            <a:xfrm rot="10800000">
              <a:off x="9931056" y="499067"/>
              <a:ext cx="0" cy="143133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 rot="10800000">
              <a:off x="10448292" y="489832"/>
              <a:ext cx="0" cy="152368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9931057" y="570763"/>
              <a:ext cx="517236" cy="0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58" name="Google Shape;158;p6"/>
          <p:cNvSpPr/>
          <p:nvPr/>
        </p:nvSpPr>
        <p:spPr>
          <a:xfrm>
            <a:off x="8145294" y="5420909"/>
            <a:ext cx="131817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Φ</a:t>
            </a:r>
            <a:r>
              <a:rPr lang="en-US" sz="10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10.5mm(0.41in)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8486435" y="1299368"/>
            <a:ext cx="6222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0.5ml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60" name="Google Shape;160;p6"/>
          <p:cNvGrpSpPr/>
          <p:nvPr/>
        </p:nvGrpSpPr>
        <p:grpSpPr>
          <a:xfrm flipH="1" rot="5400000">
            <a:off x="7960444" y="3807159"/>
            <a:ext cx="2621280" cy="125287"/>
            <a:chOff x="8769006" y="3250894"/>
            <a:chExt cx="431019" cy="152369"/>
          </a:xfrm>
        </p:grpSpPr>
        <p:cxnSp>
          <p:nvCxnSpPr>
            <p:cNvPr id="161" name="Google Shape;161;p6"/>
            <p:cNvCxnSpPr/>
            <p:nvPr/>
          </p:nvCxnSpPr>
          <p:spPr>
            <a:xfrm rot="10800000">
              <a:off x="8769006" y="3260131"/>
              <a:ext cx="0" cy="143132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 rot="10800000">
              <a:off x="9200025" y="3250894"/>
              <a:ext cx="0" cy="152368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 flipH="1" rot="-5400000">
              <a:off x="8984096" y="3116734"/>
              <a:ext cx="2" cy="430182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4" name="Google Shape;164;p6"/>
          <p:cNvSpPr/>
          <p:nvPr/>
        </p:nvSpPr>
        <p:spPr>
          <a:xfrm rot="5400000">
            <a:off x="8872074" y="3742261"/>
            <a:ext cx="120898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51.8mm (2.04in)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0168626" y="1305468"/>
            <a:ext cx="4507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1ml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66" name="Google Shape;166;p6"/>
          <p:cNvPicPr preferRelativeResize="0"/>
          <p:nvPr/>
        </p:nvPicPr>
        <p:blipFill rotWithShape="1">
          <a:blip r:embed="rId5">
            <a:alphaModFix/>
          </a:blip>
          <a:srcRect b="16748" l="42396" r="42395" t="25751"/>
          <a:stretch/>
        </p:blipFill>
        <p:spPr>
          <a:xfrm>
            <a:off x="8513619" y="2559164"/>
            <a:ext cx="554648" cy="2621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6"/>
          <p:cNvPicPr preferRelativeResize="0"/>
          <p:nvPr/>
        </p:nvPicPr>
        <p:blipFill rotWithShape="1">
          <a:blip r:embed="rId6">
            <a:alphaModFix/>
          </a:blip>
          <a:srcRect b="16665" l="42552" r="42551" t="14125"/>
          <a:stretch/>
        </p:blipFill>
        <p:spPr>
          <a:xfrm>
            <a:off x="10123048" y="2030490"/>
            <a:ext cx="543251" cy="31550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6"/>
          <p:cNvGrpSpPr/>
          <p:nvPr/>
        </p:nvGrpSpPr>
        <p:grpSpPr>
          <a:xfrm>
            <a:off x="5318145" y="1299368"/>
            <a:ext cx="811441" cy="3881075"/>
            <a:chOff x="6590562" y="1299368"/>
            <a:chExt cx="811441" cy="3881075"/>
          </a:xfrm>
        </p:grpSpPr>
        <p:pic>
          <p:nvPicPr>
            <p:cNvPr id="169" name="Google Shape;169;p6"/>
            <p:cNvPicPr preferRelativeResize="0"/>
            <p:nvPr/>
          </p:nvPicPr>
          <p:blipFill rotWithShape="1">
            <a:blip r:embed="rId7">
              <a:alphaModFix/>
            </a:blip>
            <a:srcRect b="16750" l="42500" r="42500" t="29804"/>
            <a:stretch/>
          </p:blipFill>
          <p:spPr>
            <a:xfrm>
              <a:off x="6753655" y="3019175"/>
              <a:ext cx="485257" cy="21612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6"/>
            <p:cNvPicPr preferRelativeResize="0"/>
            <p:nvPr/>
          </p:nvPicPr>
          <p:blipFill rotWithShape="1">
            <a:blip r:embed="rId7">
              <a:alphaModFix/>
            </a:blip>
            <a:srcRect b="70080" l="42500" r="42500" t="125"/>
            <a:stretch/>
          </p:blipFill>
          <p:spPr>
            <a:xfrm>
              <a:off x="6753655" y="1771555"/>
              <a:ext cx="485257" cy="12048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6"/>
            <p:cNvSpPr/>
            <p:nvPr/>
          </p:nvSpPr>
          <p:spPr>
            <a:xfrm>
              <a:off x="6590562" y="1299368"/>
              <a:ext cx="81144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Snap-fit</a:t>
              </a:r>
              <a:endParaRPr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0164" y="-2088"/>
            <a:ext cx="1571836" cy="647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9390" y="-2089"/>
            <a:ext cx="1571836" cy="64750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7"/>
          <p:cNvSpPr/>
          <p:nvPr/>
        </p:nvSpPr>
        <p:spPr>
          <a:xfrm>
            <a:off x="767235" y="2195608"/>
            <a:ext cx="6222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0.5ml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140035" y="1711411"/>
            <a:ext cx="4507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1ml</a:t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7654264" y="2414320"/>
            <a:ext cx="3290883" cy="496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Oil Tank</a:t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7654264" y="2843840"/>
            <a:ext cx="4198801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OEM Options: </a:t>
            </a:r>
            <a:r>
              <a:rPr lang="en-US" sz="105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Pad printing, silkscreen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Dimensions: </a:t>
            </a:r>
            <a:r>
              <a:rPr lang="en-US" sz="105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32.97 x 16.5/26 (mm)/1.3 x 0.65/1.02 (in)</a:t>
            </a:r>
            <a:endParaRPr/>
          </a:p>
        </p:txBody>
      </p:sp>
      <p:sp>
        <p:nvSpPr>
          <p:cNvPr id="182" name="Google Shape;182;p7"/>
          <p:cNvSpPr txBox="1"/>
          <p:nvPr/>
        </p:nvSpPr>
        <p:spPr>
          <a:xfrm>
            <a:off x="580984" y="419661"/>
            <a:ext cx="3225147" cy="6785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OEM Capabilities</a:t>
            </a:r>
            <a:endParaRPr/>
          </a:p>
        </p:txBody>
      </p:sp>
      <p:sp>
        <p:nvSpPr>
          <p:cNvPr id="183" name="Google Shape;183;p7"/>
          <p:cNvSpPr txBox="1"/>
          <p:nvPr/>
        </p:nvSpPr>
        <p:spPr>
          <a:xfrm>
            <a:off x="7661900" y="3883756"/>
            <a:ext cx="3290883" cy="496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Cartridge Base</a:t>
            </a:r>
            <a:endParaRPr/>
          </a:p>
        </p:txBody>
      </p:sp>
      <p:sp>
        <p:nvSpPr>
          <p:cNvPr id="184" name="Google Shape;184;p7"/>
          <p:cNvSpPr txBox="1"/>
          <p:nvPr/>
        </p:nvSpPr>
        <p:spPr>
          <a:xfrm>
            <a:off x="7661900" y="4313276"/>
            <a:ext cx="4198801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OEM Options: </a:t>
            </a:r>
            <a:r>
              <a:rPr lang="en-US" sz="105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Spray painting, electroplating, silkscreen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Dimensions: </a:t>
            </a:r>
            <a:r>
              <a:rPr lang="en-US" sz="105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32.97 x 4.5 (mm)/1.3 x 0.18 (in)</a:t>
            </a:r>
            <a:endParaRPr/>
          </a:p>
        </p:txBody>
      </p:sp>
      <p:pic>
        <p:nvPicPr>
          <p:cNvPr id="185" name="Google Shape;185;p7"/>
          <p:cNvPicPr preferRelativeResize="0"/>
          <p:nvPr/>
        </p:nvPicPr>
        <p:blipFill rotWithShape="1">
          <a:blip r:embed="rId4">
            <a:alphaModFix/>
          </a:blip>
          <a:srcRect b="2829" l="345" r="94368" t="0"/>
          <a:stretch/>
        </p:blipFill>
        <p:spPr>
          <a:xfrm>
            <a:off x="4149151" y="2236519"/>
            <a:ext cx="434340" cy="2559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7"/>
          <p:cNvPicPr preferRelativeResize="0"/>
          <p:nvPr/>
        </p:nvPicPr>
        <p:blipFill rotWithShape="1">
          <a:blip r:embed="rId4">
            <a:alphaModFix/>
          </a:blip>
          <a:srcRect b="2828" l="61727" r="32892" t="16169"/>
          <a:stretch/>
        </p:blipFill>
        <p:spPr>
          <a:xfrm>
            <a:off x="857786" y="2662428"/>
            <a:ext cx="44196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/>
          <p:nvPr/>
        </p:nvSpPr>
        <p:spPr>
          <a:xfrm>
            <a:off x="1433882" y="4390552"/>
            <a:ext cx="1352243" cy="210372"/>
          </a:xfrm>
          <a:prstGeom prst="rect">
            <a:avLst/>
          </a:prstGeom>
          <a:solidFill>
            <a:srgbClr val="C1D6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2849310" y="3869458"/>
            <a:ext cx="119616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16.5mm (0.65in)</a:t>
            </a:r>
            <a:endParaRPr sz="1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433882" y="3673833"/>
            <a:ext cx="1352243" cy="662411"/>
          </a:xfrm>
          <a:prstGeom prst="rect">
            <a:avLst/>
          </a:prstGeom>
          <a:solidFill>
            <a:srgbClr val="C1D6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2853626" y="4380519"/>
            <a:ext cx="113524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4.5mm (0.18in)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" name="Google Shape;191;p7"/>
          <p:cNvGrpSpPr/>
          <p:nvPr/>
        </p:nvGrpSpPr>
        <p:grpSpPr>
          <a:xfrm flipH="1" rot="5400000">
            <a:off x="2748597" y="4464893"/>
            <a:ext cx="205569" cy="66494"/>
            <a:chOff x="8769006" y="3250895"/>
            <a:chExt cx="517236" cy="152368"/>
          </a:xfrm>
        </p:grpSpPr>
        <p:cxnSp>
          <p:nvCxnSpPr>
            <p:cNvPr id="192" name="Google Shape;192;p7"/>
            <p:cNvCxnSpPr/>
            <p:nvPr/>
          </p:nvCxnSpPr>
          <p:spPr>
            <a:xfrm rot="10800000">
              <a:off x="8769006" y="3260131"/>
              <a:ext cx="0" cy="143132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 rot="10800000">
              <a:off x="9286242" y="3250895"/>
              <a:ext cx="0" cy="152368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8769006" y="3331825"/>
              <a:ext cx="517236" cy="0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95" name="Google Shape;195;p7"/>
          <p:cNvGrpSpPr/>
          <p:nvPr/>
        </p:nvGrpSpPr>
        <p:grpSpPr>
          <a:xfrm flipH="1">
            <a:off x="1433881" y="3565849"/>
            <a:ext cx="1352243" cy="73427"/>
            <a:chOff x="8769006" y="3250895"/>
            <a:chExt cx="517236" cy="152368"/>
          </a:xfrm>
        </p:grpSpPr>
        <p:cxnSp>
          <p:nvCxnSpPr>
            <p:cNvPr id="196" name="Google Shape;196;p7"/>
            <p:cNvCxnSpPr/>
            <p:nvPr/>
          </p:nvCxnSpPr>
          <p:spPr>
            <a:xfrm rot="10800000">
              <a:off x="8769006" y="3260131"/>
              <a:ext cx="0" cy="143132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7" name="Google Shape;197;p7"/>
            <p:cNvCxnSpPr/>
            <p:nvPr/>
          </p:nvCxnSpPr>
          <p:spPr>
            <a:xfrm rot="10800000">
              <a:off x="9286242" y="3250895"/>
              <a:ext cx="0" cy="152368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8" name="Google Shape;198;p7"/>
            <p:cNvCxnSpPr/>
            <p:nvPr/>
          </p:nvCxnSpPr>
          <p:spPr>
            <a:xfrm>
              <a:off x="8769006" y="3331825"/>
              <a:ext cx="517236" cy="0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9" name="Google Shape;199;p7"/>
          <p:cNvSpPr/>
          <p:nvPr/>
        </p:nvSpPr>
        <p:spPr>
          <a:xfrm>
            <a:off x="1526971" y="3339128"/>
            <a:ext cx="118333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32.97mm (1.3in)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p7"/>
          <p:cNvGrpSpPr/>
          <p:nvPr/>
        </p:nvGrpSpPr>
        <p:grpSpPr>
          <a:xfrm flipH="1">
            <a:off x="1433881" y="4681862"/>
            <a:ext cx="1352243" cy="73427"/>
            <a:chOff x="8769006" y="3250895"/>
            <a:chExt cx="517236" cy="152368"/>
          </a:xfrm>
        </p:grpSpPr>
        <p:cxnSp>
          <p:nvCxnSpPr>
            <p:cNvPr id="201" name="Google Shape;201;p7"/>
            <p:cNvCxnSpPr/>
            <p:nvPr/>
          </p:nvCxnSpPr>
          <p:spPr>
            <a:xfrm rot="10800000">
              <a:off x="8769006" y="3260131"/>
              <a:ext cx="0" cy="143132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2" name="Google Shape;202;p7"/>
            <p:cNvCxnSpPr/>
            <p:nvPr/>
          </p:nvCxnSpPr>
          <p:spPr>
            <a:xfrm rot="10800000">
              <a:off x="9286242" y="3250895"/>
              <a:ext cx="0" cy="152368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3" name="Google Shape;203;p7"/>
            <p:cNvCxnSpPr/>
            <p:nvPr/>
          </p:nvCxnSpPr>
          <p:spPr>
            <a:xfrm>
              <a:off x="8769006" y="3331825"/>
              <a:ext cx="517236" cy="0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04" name="Google Shape;204;p7"/>
          <p:cNvSpPr/>
          <p:nvPr/>
        </p:nvSpPr>
        <p:spPr>
          <a:xfrm>
            <a:off x="1526971" y="4757033"/>
            <a:ext cx="118333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32.97mm (1.3in)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99375" y="4409253"/>
            <a:ext cx="406094" cy="1672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6" name="Google Shape;206;p7"/>
          <p:cNvGrpSpPr/>
          <p:nvPr/>
        </p:nvGrpSpPr>
        <p:grpSpPr>
          <a:xfrm flipH="1" rot="5400000">
            <a:off x="2519190" y="3966514"/>
            <a:ext cx="668674" cy="70784"/>
            <a:chOff x="8769006" y="3250895"/>
            <a:chExt cx="517236" cy="152368"/>
          </a:xfrm>
        </p:grpSpPr>
        <p:cxnSp>
          <p:nvCxnSpPr>
            <p:cNvPr id="207" name="Google Shape;207;p7"/>
            <p:cNvCxnSpPr/>
            <p:nvPr/>
          </p:nvCxnSpPr>
          <p:spPr>
            <a:xfrm rot="10800000">
              <a:off x="8769006" y="3260131"/>
              <a:ext cx="0" cy="143132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" name="Google Shape;208;p7"/>
            <p:cNvCxnSpPr/>
            <p:nvPr/>
          </p:nvCxnSpPr>
          <p:spPr>
            <a:xfrm rot="10800000">
              <a:off x="9286242" y="3250895"/>
              <a:ext cx="0" cy="152368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" name="Google Shape;209;p7"/>
            <p:cNvCxnSpPr/>
            <p:nvPr/>
          </p:nvCxnSpPr>
          <p:spPr>
            <a:xfrm>
              <a:off x="8769006" y="3331825"/>
              <a:ext cx="517236" cy="0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10" name="Google Shape;210;p7"/>
          <p:cNvSpPr/>
          <p:nvPr/>
        </p:nvSpPr>
        <p:spPr>
          <a:xfrm>
            <a:off x="6120320" y="3632242"/>
            <a:ext cx="10887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26mm (1.02in)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704892" y="3215669"/>
            <a:ext cx="1352243" cy="1095767"/>
          </a:xfrm>
          <a:prstGeom prst="rect">
            <a:avLst/>
          </a:prstGeom>
          <a:solidFill>
            <a:srgbClr val="C1D6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2" name="Google Shape;212;p7"/>
          <p:cNvGrpSpPr/>
          <p:nvPr/>
        </p:nvGrpSpPr>
        <p:grpSpPr>
          <a:xfrm flipH="1">
            <a:off x="4704891" y="3101926"/>
            <a:ext cx="1352243" cy="73427"/>
            <a:chOff x="8769006" y="3250895"/>
            <a:chExt cx="517236" cy="152368"/>
          </a:xfrm>
        </p:grpSpPr>
        <p:cxnSp>
          <p:nvCxnSpPr>
            <p:cNvPr id="213" name="Google Shape;213;p7"/>
            <p:cNvCxnSpPr/>
            <p:nvPr/>
          </p:nvCxnSpPr>
          <p:spPr>
            <a:xfrm rot="10800000">
              <a:off x="8769006" y="3260131"/>
              <a:ext cx="0" cy="143132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" name="Google Shape;214;p7"/>
            <p:cNvCxnSpPr/>
            <p:nvPr/>
          </p:nvCxnSpPr>
          <p:spPr>
            <a:xfrm rot="10800000">
              <a:off x="9286242" y="3250895"/>
              <a:ext cx="0" cy="152368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7"/>
            <p:cNvCxnSpPr/>
            <p:nvPr/>
          </p:nvCxnSpPr>
          <p:spPr>
            <a:xfrm>
              <a:off x="8769006" y="3331825"/>
              <a:ext cx="517236" cy="0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16" name="Google Shape;216;p7"/>
          <p:cNvSpPr/>
          <p:nvPr/>
        </p:nvSpPr>
        <p:spPr>
          <a:xfrm>
            <a:off x="4797981" y="2875205"/>
            <a:ext cx="118333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32.97mm (1.3in)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" name="Google Shape;217;p7"/>
          <p:cNvGrpSpPr/>
          <p:nvPr/>
        </p:nvGrpSpPr>
        <p:grpSpPr>
          <a:xfrm flipH="1" rot="5400000">
            <a:off x="5574508" y="3730305"/>
            <a:ext cx="1095767" cy="66494"/>
            <a:chOff x="8769006" y="3250895"/>
            <a:chExt cx="517236" cy="152368"/>
          </a:xfrm>
        </p:grpSpPr>
        <p:cxnSp>
          <p:nvCxnSpPr>
            <p:cNvPr id="218" name="Google Shape;218;p7"/>
            <p:cNvCxnSpPr/>
            <p:nvPr/>
          </p:nvCxnSpPr>
          <p:spPr>
            <a:xfrm rot="10800000">
              <a:off x="8769006" y="3260131"/>
              <a:ext cx="0" cy="143132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7"/>
            <p:cNvCxnSpPr/>
            <p:nvPr/>
          </p:nvCxnSpPr>
          <p:spPr>
            <a:xfrm rot="10800000">
              <a:off x="9286242" y="3250895"/>
              <a:ext cx="0" cy="152368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7"/>
            <p:cNvCxnSpPr/>
            <p:nvPr/>
          </p:nvCxnSpPr>
          <p:spPr>
            <a:xfrm>
              <a:off x="8769006" y="3331825"/>
              <a:ext cx="517236" cy="0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21" name="Google Shape;221;p7"/>
          <p:cNvSpPr/>
          <p:nvPr/>
        </p:nvSpPr>
        <p:spPr>
          <a:xfrm>
            <a:off x="4704891" y="4390552"/>
            <a:ext cx="1352243" cy="210372"/>
          </a:xfrm>
          <a:prstGeom prst="rect">
            <a:avLst/>
          </a:prstGeom>
          <a:solidFill>
            <a:srgbClr val="C1D6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124635" y="4380519"/>
            <a:ext cx="113524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4.5mm (0.18in)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p7"/>
          <p:cNvGrpSpPr/>
          <p:nvPr/>
        </p:nvGrpSpPr>
        <p:grpSpPr>
          <a:xfrm flipH="1" rot="5400000">
            <a:off x="6019606" y="4464893"/>
            <a:ext cx="205569" cy="66494"/>
            <a:chOff x="8769006" y="3250895"/>
            <a:chExt cx="517236" cy="152368"/>
          </a:xfrm>
        </p:grpSpPr>
        <p:cxnSp>
          <p:nvCxnSpPr>
            <p:cNvPr id="224" name="Google Shape;224;p7"/>
            <p:cNvCxnSpPr/>
            <p:nvPr/>
          </p:nvCxnSpPr>
          <p:spPr>
            <a:xfrm rot="10800000">
              <a:off x="8769006" y="3260131"/>
              <a:ext cx="0" cy="143132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5" name="Google Shape;225;p7"/>
            <p:cNvCxnSpPr/>
            <p:nvPr/>
          </p:nvCxnSpPr>
          <p:spPr>
            <a:xfrm rot="10800000">
              <a:off x="9286242" y="3250895"/>
              <a:ext cx="0" cy="152368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6" name="Google Shape;226;p7"/>
            <p:cNvCxnSpPr/>
            <p:nvPr/>
          </p:nvCxnSpPr>
          <p:spPr>
            <a:xfrm>
              <a:off x="8769006" y="3331825"/>
              <a:ext cx="517236" cy="0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27" name="Google Shape;227;p7"/>
          <p:cNvGrpSpPr/>
          <p:nvPr/>
        </p:nvGrpSpPr>
        <p:grpSpPr>
          <a:xfrm flipH="1">
            <a:off x="4704890" y="4681862"/>
            <a:ext cx="1352243" cy="73427"/>
            <a:chOff x="8769006" y="3250895"/>
            <a:chExt cx="517236" cy="152368"/>
          </a:xfrm>
        </p:grpSpPr>
        <p:cxnSp>
          <p:nvCxnSpPr>
            <p:cNvPr id="228" name="Google Shape;228;p7"/>
            <p:cNvCxnSpPr/>
            <p:nvPr/>
          </p:nvCxnSpPr>
          <p:spPr>
            <a:xfrm rot="10800000">
              <a:off x="8769006" y="3260131"/>
              <a:ext cx="0" cy="143132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9" name="Google Shape;229;p7"/>
            <p:cNvCxnSpPr/>
            <p:nvPr/>
          </p:nvCxnSpPr>
          <p:spPr>
            <a:xfrm rot="10800000">
              <a:off x="9286242" y="3250895"/>
              <a:ext cx="0" cy="152368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0" name="Google Shape;230;p7"/>
            <p:cNvCxnSpPr/>
            <p:nvPr/>
          </p:nvCxnSpPr>
          <p:spPr>
            <a:xfrm>
              <a:off x="8769006" y="3331825"/>
              <a:ext cx="517236" cy="0"/>
            </a:xfrm>
            <a:prstGeom prst="straightConnector1">
              <a:avLst/>
            </a:prstGeom>
            <a:noFill/>
            <a:ln cap="flat" cmpd="sng" w="1270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31" name="Google Shape;231;p7"/>
          <p:cNvSpPr/>
          <p:nvPr/>
        </p:nvSpPr>
        <p:spPr>
          <a:xfrm>
            <a:off x="4797980" y="4757033"/>
            <a:ext cx="118333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32.97mm (1.3in)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0384" y="4409253"/>
            <a:ext cx="406094" cy="167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8"/>
          <p:cNvPicPr preferRelativeResize="0"/>
          <p:nvPr/>
        </p:nvPicPr>
        <p:blipFill rotWithShape="1">
          <a:blip r:embed="rId3">
            <a:alphaModFix/>
          </a:blip>
          <a:srcRect b="7512" l="4161" r="8403" t="50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20164" y="-2088"/>
            <a:ext cx="1571836" cy="6475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9" name="Google Shape;239;p8"/>
          <p:cNvGrpSpPr/>
          <p:nvPr/>
        </p:nvGrpSpPr>
        <p:grpSpPr>
          <a:xfrm>
            <a:off x="400487" y="6173223"/>
            <a:ext cx="1736699" cy="359658"/>
            <a:chOff x="400487" y="6173223"/>
            <a:chExt cx="1736699" cy="359658"/>
          </a:xfrm>
        </p:grpSpPr>
        <p:pic>
          <p:nvPicPr>
            <p:cNvPr id="240" name="Google Shape;240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0487" y="6177281"/>
              <a:ext cx="355600" cy="35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1517" y="6173223"/>
              <a:ext cx="355600" cy="35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314627" y="6177281"/>
              <a:ext cx="355600" cy="35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781586" y="6177281"/>
              <a:ext cx="355600" cy="355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" name="Google Shape;244;p8"/>
          <p:cNvSpPr/>
          <p:nvPr/>
        </p:nvSpPr>
        <p:spPr>
          <a:xfrm>
            <a:off x="3594627" y="5985146"/>
            <a:ext cx="117532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WWW.CCELL.COM</a:t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368785" y="5985146"/>
            <a:ext cx="179728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 US @CCELLOFFICIAL</a:t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594627" y="6240761"/>
            <a:ext cx="729238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CCELL DOES NOT PRODUCE, DISTRIBUTE OR SELL ANY MATERIAL FILLED IN CARTRIDGES AND OIL TANKS. NOT FOR SALE TO MINORS.</a:t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1683703" y="2230799"/>
            <a:ext cx="525556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TH2-SE</a:t>
            </a:r>
            <a:endParaRPr sz="720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1737043" y="3431128"/>
            <a:ext cx="4300352" cy="509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Borosilicate Glass Cartridge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2023-03-15T07:09:14Z</dcterms:created>
  <dc:creator>李煜</dc:creator>
</cp:coreProperties>
</file>